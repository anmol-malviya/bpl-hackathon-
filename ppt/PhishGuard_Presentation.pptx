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2011680"/>
            <a:ext cx="109728" cy="29260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1828800"/>
            <a:ext cx="10058400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6400" b="1">
                <a:solidFill>
                  <a:srgbClr val="FFFFFF"/>
                </a:solidFill>
                <a:latin typeface="Trebuchet MS"/>
              </a:defRPr>
            </a:pPr>
            <a:r>
              <a:t>PHISHGUARD</a:t>
            </a:r>
          </a:p>
          <a:p>
            <a:pPr>
              <a:spcAft>
                <a:spcPts val="4500"/>
              </a:spcAft>
              <a:defRPr sz="2200">
                <a:solidFill>
                  <a:srgbClr val="10B981"/>
                </a:solidFill>
                <a:latin typeface="Calibri"/>
              </a:defRPr>
            </a:pPr>
            <a:r>
              <a:t>A Hybrid Client-Server System for Real-Time Phishing &amp; Cyber Crime Mitigation</a:t>
            </a:r>
          </a:p>
          <a:p>
            <a:pPr>
              <a:defRPr sz="1800" b="1">
                <a:solidFill>
                  <a:srgbClr val="FFFFFF"/>
                </a:solidFill>
                <a:latin typeface="Calibri"/>
              </a:defRPr>
            </a:pPr>
            <a:r>
              <a:t>Team Name: PhishGuard Solutions</a:t>
            </a:r>
          </a:p>
          <a:p>
            <a:pPr>
              <a:defRPr sz="1500">
                <a:solidFill>
                  <a:srgbClr val="94A3B8"/>
                </a:solidFill>
                <a:latin typeface="Calibri"/>
              </a:defRPr>
            </a:pPr>
            <a:r>
              <a:t>Team Members: [Member 1 (Developer), Member 2 (Designer/Researcher), Member 3]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82009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2563EB"/>
                </a:solidFill>
                <a:latin typeface="Trebuchet MS"/>
              </a:defRPr>
            </a:pPr>
            <a:r>
              <a:t>The Rising Cyber Crime Threat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502920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500"/>
              </a:spcAft>
              <a:defRPr sz="2200" b="1">
                <a:solidFill>
                  <a:srgbClr val="1E293B"/>
                </a:solidFill>
                <a:latin typeface="Trebuchet MS"/>
              </a:defRPr>
            </a:pPr>
            <a:r>
              <a:t>The Phishing &amp; Social Engineering Crisis</a:t>
            </a:r>
          </a:p>
          <a:p>
            <a:pPr>
              <a:spcAft>
                <a:spcPts val="12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• Phishing accounts for over 80% of all reported security incidents worldwide, leading to massive financial and identity thefts.</a:t>
            </a:r>
          </a:p>
          <a:p>
            <a:pPr>
              <a:spcAft>
                <a:spcPts val="12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• Zero-Day Domains: Cyber criminals deploy highly target-specific web links that stay active for less than 24 hours to bypass traditional blacklists (e.g., Google Safe Browsing).</a:t>
            </a:r>
          </a:p>
          <a:p>
            <a:pPr>
              <a:spcAft>
                <a:spcPts val="12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• Quishing (QR Code Phishing): Physical flyers and QR codes are increasingly weaponized to redirect users to malicious login clones invisibly.</a:t>
            </a:r>
          </a:p>
          <a:p>
            <a:pPr>
              <a:spcAft>
                <a:spcPts val="12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• Brand Impersonation: Sophisticated tricks like IDN Homograph attacks (fake letters mimicking real ones) fool even tech-savvy citizens.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393192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92240" y="1920240"/>
            <a:ext cx="4663440" cy="3383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EF4444"/>
                </a:solidFill>
                <a:latin typeface="Trebuchet MS"/>
              </a:defRPr>
            </a:pPr>
            <a:r>
              <a:t>CRITICAL GAP IN CITIZEN SECURITY</a:t>
            </a:r>
          </a:p>
          <a:p>
            <a:pPr>
              <a:spcAft>
                <a:spcPts val="1400"/>
              </a:spcAft>
              <a:defRPr sz="1500" b="1">
                <a:solidFill>
                  <a:srgbClr val="1E293B"/>
                </a:solidFill>
                <a:latin typeface="Calibri"/>
              </a:defRPr>
            </a:pPr>
            <a:r>
              <a:t>⚠️ Inability of citizens to check suspicious links dynamically without visiting them.</a:t>
            </a:r>
          </a:p>
          <a:p>
            <a:pPr>
              <a:spcAft>
                <a:spcPts val="1400"/>
              </a:spcAft>
              <a:defRPr sz="1500" b="1">
                <a:solidFill>
                  <a:srgbClr val="1E293B"/>
                </a:solidFill>
                <a:latin typeface="Calibri"/>
              </a:defRPr>
            </a:pPr>
            <a:r>
              <a:t>⚠️ Emails look perfectly spoofed; email headers contain the proof (SPF/DKIM/DMARC) but are unreadable to regular users.</a:t>
            </a:r>
          </a:p>
          <a:p>
            <a:pPr>
              <a:spcAft>
                <a:spcPts val="1400"/>
              </a:spcAft>
              <a:defRPr sz="1500" b="1">
                <a:solidFill>
                  <a:srgbClr val="1E293B"/>
                </a:solidFill>
                <a:latin typeface="Calibri"/>
              </a:defRPr>
            </a:pPr>
            <a:r>
              <a:t>⚠️ Mobile security applications are often heavy, resource-intensive, and depend entirely on continuous cloud connections.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82009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2563EB"/>
                </a:solidFill>
                <a:latin typeface="Trebuchet MS"/>
              </a:defRPr>
            </a:pPr>
            <a:r>
              <a:t>Proposed Solution: PhishGuard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88720"/>
            <a:ext cx="108200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i="1">
                <a:solidFill>
                  <a:srgbClr val="1E293B"/>
                </a:solidFill>
                <a:latin typeface="Calibri"/>
              </a:defRPr>
            </a:pPr>
            <a:r>
              <a:t>An intelligent, multi-layered anti-phishing ecosystem uniting local mobile AI with cloud-driven analysis.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011680"/>
            <a:ext cx="3319272" cy="393192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194560"/>
            <a:ext cx="2953512" cy="3566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1E293B"/>
                </a:solidFill>
                <a:latin typeface="Trebuchet MS"/>
              </a:defRPr>
            </a:pPr>
            <a:r>
              <a:t>1. Local Mobile Engine</a:t>
            </a:r>
          </a:p>
          <a:p>
            <a:pPr>
              <a:spcAft>
                <a:spcPts val="1000"/>
              </a:spcAft>
              <a:defRPr sz="1500">
                <a:solidFill>
                  <a:srgbClr val="1E293B"/>
                </a:solidFill>
                <a:latin typeface="Calibri"/>
              </a:defRPr>
            </a:pPr>
            <a:r>
              <a:t>A native Android app featuring an offline Machine Learning classifier (Logistic Regression) + heuristic scans to check links with zero latency and high battery efficiency.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2011680"/>
            <a:ext cx="3319272" cy="3931920"/>
          </a:xfrm>
          <a:prstGeom prst="roundRect">
            <a:avLst/>
          </a:prstGeom>
          <a:solidFill>
            <a:srgbClr val="F0FDF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2194560"/>
            <a:ext cx="2953512" cy="3566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1E293B"/>
                </a:solidFill>
                <a:latin typeface="Trebuchet MS"/>
              </a:defRPr>
            </a:pPr>
            <a:r>
              <a:t>2. Server-Side Deep Scan</a:t>
            </a:r>
          </a:p>
          <a:p>
            <a:pPr>
              <a:spcAft>
                <a:spcPts val="1000"/>
              </a:spcAft>
              <a:defRPr sz="1500">
                <a:solidFill>
                  <a:srgbClr val="1E293B"/>
                </a:solidFill>
                <a:latin typeface="Calibri"/>
              </a:defRPr>
            </a:pPr>
            <a:r>
              <a:t>A Node.js backend checking active DNS registration, validating SSL chains (detecting self-signed/expired certs), and auditing the page HTML layout for password credential theft scripts.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79" y="2011680"/>
            <a:ext cx="3319272" cy="3931920"/>
          </a:xfrm>
          <a:prstGeom prst="roundRect">
            <a:avLst/>
          </a:prstGeom>
          <a:solidFill>
            <a:srgbClr val="FFFBEB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66759" y="2194560"/>
            <a:ext cx="2953512" cy="3566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1E293B"/>
                </a:solidFill>
                <a:latin typeface="Trebuchet MS"/>
              </a:defRPr>
            </a:pPr>
            <a:r>
              <a:t>3. Security Sandbox</a:t>
            </a:r>
          </a:p>
          <a:p>
            <a:pPr>
              <a:spcAft>
                <a:spcPts val="1000"/>
              </a:spcAft>
              <a:defRPr sz="1500">
                <a:solidFill>
                  <a:srgbClr val="1E293B"/>
                </a:solidFill>
                <a:latin typeface="Calibri"/>
              </a:defRPr>
            </a:pPr>
            <a:r>
              <a:t>An isolated, script-restricted preview sandbox that lets users view the visual layout of a suspicious website safely on their screens without executing any malicious payloads.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82009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2563EB"/>
                </a:solidFill>
                <a:latin typeface="Trebuchet MS"/>
              </a:defRPr>
            </a:pPr>
            <a:r>
              <a:t>How the Solution Works: Detection Pipeline</a:t>
            </a:r>
          </a:p>
        </p:txBody>
      </p:sp>
      <p:sp>
        <p:nvSpPr>
          <p:cNvPr id="4" name="Oval 3"/>
          <p:cNvSpPr/>
          <p:nvPr/>
        </p:nvSpPr>
        <p:spPr>
          <a:xfrm>
            <a:off x="1691640" y="1554480"/>
            <a:ext cx="685800" cy="6858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Trebuchet MS"/>
              </a:defRPr>
            </a:pPr>
            <a:r>
              <a:t>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377440"/>
            <a:ext cx="256032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514600"/>
            <a:ext cx="2286000" cy="3291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1200"/>
              </a:spcAft>
              <a:defRPr sz="1600" b="1">
                <a:solidFill>
                  <a:srgbClr val="1E293B"/>
                </a:solidFill>
                <a:latin typeface="Trebuchet MS"/>
              </a:defRPr>
            </a:pPr>
            <a:r>
              <a:t>Input URL / QR / Email</a:t>
            </a:r>
          </a:p>
          <a:p>
            <a:pPr algn="ctr">
              <a:defRPr sz="1300">
                <a:solidFill>
                  <a:srgbClr val="1E293B"/>
                </a:solidFill>
                <a:latin typeface="Calibri"/>
              </a:defRPr>
            </a:pPr>
            <a:r>
              <a:t>User enters URL, scans QR, or pastes raw email headers into PhishGuard.</a:t>
            </a:r>
          </a:p>
        </p:txBody>
      </p:sp>
      <p:sp>
        <p:nvSpPr>
          <p:cNvPr id="7" name="Oval 6"/>
          <p:cNvSpPr/>
          <p:nvPr/>
        </p:nvSpPr>
        <p:spPr>
          <a:xfrm>
            <a:off x="4389120" y="1554480"/>
            <a:ext cx="685800" cy="6858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Trebuchet MS"/>
              </a:defRPr>
            </a:pPr>
            <a: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2377440"/>
            <a:ext cx="256032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20440" y="2514600"/>
            <a:ext cx="2286000" cy="3291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1200"/>
              </a:spcAft>
              <a:defRPr sz="1600" b="1">
                <a:solidFill>
                  <a:srgbClr val="1E293B"/>
                </a:solidFill>
                <a:latin typeface="Trebuchet MS"/>
              </a:defRPr>
            </a:pPr>
            <a:r>
              <a:t>Local Heuristics Run</a:t>
            </a:r>
          </a:p>
          <a:p>
            <a:pPr algn="ctr">
              <a:defRPr sz="1300">
                <a:solidFill>
                  <a:srgbClr val="1E293B"/>
                </a:solidFill>
                <a:latin typeface="Calibri"/>
              </a:defRPr>
            </a:pPr>
            <a:r>
              <a:t>Android client inspects Punycode (homographs), Levenshtein distance (typosquatting), and entropy.</a:t>
            </a:r>
          </a:p>
        </p:txBody>
      </p:sp>
      <p:sp>
        <p:nvSpPr>
          <p:cNvPr id="10" name="Oval 9"/>
          <p:cNvSpPr/>
          <p:nvPr/>
        </p:nvSpPr>
        <p:spPr>
          <a:xfrm>
            <a:off x="7086600" y="1554480"/>
            <a:ext cx="685800" cy="6858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Trebuchet MS"/>
              </a:defRPr>
            </a:pPr>
            <a:r>
              <a:t>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80760" y="2377440"/>
            <a:ext cx="256032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2514600"/>
            <a:ext cx="2286000" cy="3291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1200"/>
              </a:spcAft>
              <a:defRPr sz="1600" b="1">
                <a:solidFill>
                  <a:srgbClr val="1E293B"/>
                </a:solidFill>
                <a:latin typeface="Trebuchet MS"/>
              </a:defRPr>
            </a:pPr>
            <a:r>
              <a:t>On-Device ML Predict</a:t>
            </a:r>
          </a:p>
          <a:p>
            <a:pPr algn="ctr">
              <a:defRPr sz="1300">
                <a:solidFill>
                  <a:srgbClr val="1E293B"/>
                </a:solidFill>
                <a:latin typeface="Calibri"/>
              </a:defRPr>
            </a:pPr>
            <a:r>
              <a:t>Lightweight ML model runs locally to evaluate feature weights &amp; output instant danger probability.</a:t>
            </a:r>
          </a:p>
        </p:txBody>
      </p:sp>
      <p:sp>
        <p:nvSpPr>
          <p:cNvPr id="13" name="Oval 12"/>
          <p:cNvSpPr/>
          <p:nvPr/>
        </p:nvSpPr>
        <p:spPr>
          <a:xfrm>
            <a:off x="9784080" y="1554480"/>
            <a:ext cx="685800" cy="6858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Trebuchet MS"/>
              </a:defRPr>
            </a:pPr>
            <a:r>
              <a:t>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778240" y="2377440"/>
            <a:ext cx="256032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15400" y="2514600"/>
            <a:ext cx="2286000" cy="3291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1200"/>
              </a:spcAft>
              <a:defRPr sz="1600" b="1">
                <a:solidFill>
                  <a:srgbClr val="1E293B"/>
                </a:solidFill>
                <a:latin typeface="Trebuchet MS"/>
              </a:defRPr>
            </a:pPr>
            <a:r>
              <a:t>API Deep Analysis</a:t>
            </a:r>
          </a:p>
          <a:p>
            <a:pPr algn="ctr">
              <a:defRPr sz="1300">
                <a:solidFill>
                  <a:srgbClr val="1E293B"/>
                </a:solidFill>
                <a:latin typeface="Calibri"/>
              </a:defRPr>
            </a:pPr>
            <a:r>
              <a:t>Backend makes asynchronous DNS queries, SSL certificate analysis, and scans page HTML for login portals.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82009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2563EB"/>
                </a:solidFill>
                <a:latin typeface="Trebuchet MS"/>
              </a:defRPr>
            </a:pPr>
            <a:r>
              <a:t>Major Components of PhishGuard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554480"/>
            <a:ext cx="5212080" cy="210312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554480"/>
            <a:ext cx="109728" cy="21031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737360"/>
            <a:ext cx="466344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1E293B"/>
                </a:solidFill>
                <a:latin typeface="Trebuchet MS"/>
              </a:defRPr>
            </a:pPr>
            <a:r>
              <a:t>Mobile App (Android / Kotlin Client)</a:t>
            </a:r>
          </a:p>
          <a:p>
            <a:pPr>
              <a:defRPr sz="1400">
                <a:solidFill>
                  <a:srgbClr val="1E293B"/>
                </a:solidFill>
                <a:latin typeface="Calibri"/>
              </a:defRPr>
            </a:pPr>
            <a:r>
              <a:t>Fully native Android app offering real-time URL interception, local heuristic scores, and a built-in camera reader to securely parse QR codes without executing scripts.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172200" y="1554480"/>
            <a:ext cx="5212080" cy="210312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172200" y="1554480"/>
            <a:ext cx="109728" cy="21031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737360"/>
            <a:ext cx="466344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1E293B"/>
                </a:solidFill>
                <a:latin typeface="Trebuchet MS"/>
              </a:defRPr>
            </a:pPr>
            <a:r>
              <a:t>Dynamic Web Dashboard (Next.js PWA)</a:t>
            </a:r>
          </a:p>
          <a:p>
            <a:pPr>
              <a:defRPr sz="1400">
                <a:solidFill>
                  <a:srgbClr val="1E293B"/>
                </a:solidFill>
                <a:latin typeface="Calibri"/>
              </a:defRPr>
            </a:pPr>
            <a:r>
              <a:t>A highly responsive web application built with React, styled in Vanilla CSS, that offers manual link checking, security guide walkthroughs, and a responsive portal.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4023360"/>
            <a:ext cx="5212080" cy="210312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4023360"/>
            <a:ext cx="109728" cy="21031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206240"/>
            <a:ext cx="466344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1E293B"/>
                </a:solidFill>
                <a:latin typeface="Trebuchet MS"/>
              </a:defRPr>
            </a:pPr>
            <a:r>
              <a:t>Deep Scan Node.js Backend API</a:t>
            </a:r>
          </a:p>
          <a:p>
            <a:pPr>
              <a:defRPr sz="1400">
                <a:solidFill>
                  <a:srgbClr val="1E293B"/>
                </a:solidFill>
                <a:latin typeface="Calibri"/>
              </a:defRPr>
            </a:pPr>
            <a:r>
              <a:t>A security API performing low-level certificate checks (Issuer, valid timeframe, fingerprint signatures), live DNS lookups, and checking HTML tags for spoof scripts.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4023360"/>
            <a:ext cx="5212080" cy="210312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4023360"/>
            <a:ext cx="109728" cy="21031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4206240"/>
            <a:ext cx="466344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1E293B"/>
                </a:solidFill>
                <a:latin typeface="Trebuchet MS"/>
              </a:defRPr>
            </a:pPr>
            <a:r>
              <a:t>Interactive Sandbox &amp; Email Analyzer</a:t>
            </a:r>
          </a:p>
          <a:p>
            <a:pPr>
              <a:defRPr sz="1400">
                <a:solidFill>
                  <a:srgbClr val="1E293B"/>
                </a:solidFill>
                <a:latin typeface="Calibri"/>
              </a:defRPr>
            </a:pPr>
            <a:r>
              <a:t>Includes (1) A clean Safe Sandbox rendering iframe views securely with iframe scripting completely disabled, and (2) An Email Header parser diagnosing spoofed senders.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82009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2563EB"/>
                </a:solidFill>
                <a:latin typeface="Trebuchet MS"/>
              </a:defRPr>
            </a:pPr>
            <a:r>
              <a:t>System Architecture &amp; Tech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63040"/>
            <a:ext cx="502920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500"/>
              </a:spcAft>
              <a:defRPr sz="2200" b="1">
                <a:solidFill>
                  <a:srgbClr val="1E293B"/>
                </a:solidFill>
                <a:latin typeface="Trebuchet MS"/>
              </a:defRPr>
            </a:pPr>
            <a:r>
              <a:t>Technology Stack</a:t>
            </a:r>
          </a:p>
          <a:p>
            <a:pPr>
              <a:defRPr b="1" sz="1500">
                <a:solidFill>
                  <a:srgbClr val="2563EB"/>
                </a:solidFill>
              </a:defRPr>
            </a:pPr>
            <a:r>
              <a:t>💻 Mobile Client: 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</a:defRPr>
            </a:pPr>
            <a:r>
              <a:t>   Native Kotlin, Android SDK, Local Heuristics Logic</a:t>
            </a:r>
          </a:p>
          <a:p>
            <a:pPr>
              <a:defRPr b="1" sz="1500">
                <a:solidFill>
                  <a:srgbClr val="2563EB"/>
                </a:solidFill>
              </a:defRPr>
            </a:pPr>
            <a:r>
              <a:t>💻 Frontend Web App: 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</a:defRPr>
            </a:pPr>
            <a:r>
              <a:t>   Next.js 16 (React), Vanilla CSS, Tailwind CSS for dashboard structure</a:t>
            </a:r>
          </a:p>
          <a:p>
            <a:pPr>
              <a:defRPr b="1" sz="1500">
                <a:solidFill>
                  <a:srgbClr val="2563EB"/>
                </a:solidFill>
              </a:defRPr>
            </a:pPr>
            <a:r>
              <a:t>💻 Backend Services: 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</a:defRPr>
            </a:pPr>
            <a:r>
              <a:t>   Next.js API Routes (Node.js/V8 execution context)</a:t>
            </a:r>
          </a:p>
          <a:p>
            <a:pPr>
              <a:defRPr b="1" sz="1500">
                <a:solidFill>
                  <a:srgbClr val="2563EB"/>
                </a:solidFill>
              </a:defRPr>
            </a:pPr>
            <a:r>
              <a:t>💻 Utilities &amp; Scanner: 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</a:defRPr>
            </a:pPr>
            <a:r>
              <a:t>   HTML5 QR-code parser, Web Cryptography API, DNS modules</a:t>
            </a:r>
          </a:p>
          <a:p>
            <a:pPr>
              <a:defRPr b="1" sz="1500">
                <a:solidFill>
                  <a:srgbClr val="2563EB"/>
                </a:solidFill>
              </a:defRPr>
            </a:pPr>
            <a:r>
              <a:t>💻 Model Infrastructure: 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</a:defRPr>
            </a:pPr>
            <a:r>
              <a:t>   Python script for dataset extraction (`download_dataset.py`) &amp; weights translation (`phishing_model_weights.json`)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463040"/>
            <a:ext cx="521208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500"/>
              </a:spcAft>
              <a:defRPr sz="2200" b="1">
                <a:solidFill>
                  <a:srgbClr val="1E293B"/>
                </a:solidFill>
                <a:latin typeface="Trebuchet MS"/>
              </a:defRPr>
            </a:pPr>
            <a:r>
              <a:t>Algorithms &amp; Core Security Models</a:t>
            </a:r>
          </a:p>
          <a:p>
            <a:pPr>
              <a:defRPr b="1" sz="1500">
                <a:solidFill>
                  <a:srgbClr val="10B981"/>
                </a:solidFill>
              </a:defRPr>
            </a:pPr>
            <a:r>
              <a:t>⚙️ Levenshtein Distance Metric: 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</a:defRPr>
            </a:pPr>
            <a:r>
              <a:t>   Calculates string similarity to stop spoofed domains mimicking top-brand sites (PayPal, Google).</a:t>
            </a:r>
          </a:p>
          <a:p>
            <a:pPr>
              <a:defRPr b="1" sz="1500">
                <a:solidFill>
                  <a:srgbClr val="10B981"/>
                </a:solidFill>
              </a:defRPr>
            </a:pPr>
            <a:r>
              <a:t>⚙️ Logistic Regression Probabilistic Model: 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</a:defRPr>
            </a:pPr>
            <a:r>
              <a:t>   Processes URL length, special chars (@, _, -, .), subdomains, and protocols to evaluate a cumulative threat index.</a:t>
            </a:r>
          </a:p>
          <a:p>
            <a:pPr>
              <a:defRPr b="1" sz="1500">
                <a:solidFill>
                  <a:srgbClr val="10B981"/>
                </a:solidFill>
              </a:defRPr>
            </a:pPr>
            <a:r>
              <a:t>⚙️ Shannon Entropy Calculation: 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</a:defRPr>
            </a:pPr>
            <a:r>
              <a:t>   Detects algorithmically generated, randomized random domains often deployed in spam/bot nets.</a:t>
            </a:r>
          </a:p>
          <a:p>
            <a:pPr>
              <a:defRPr b="1" sz="1500">
                <a:solidFill>
                  <a:srgbClr val="10B981"/>
                </a:solidFill>
              </a:defRPr>
            </a:pPr>
            <a:r>
              <a:t>⚙️ Punycode Decoding (`xn--`): 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</a:defRPr>
            </a:pPr>
            <a:r>
              <a:t>   Identifies IDN Homograph attacks where Cyrillic symbols hide within Latin domains to deceive end users.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82009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2563EB"/>
                </a:solidFill>
                <a:latin typeface="Trebuchet MS"/>
              </a:defRPr>
            </a:pPr>
            <a:r>
              <a:t>Impact on Cybersecurity &amp; Society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45920"/>
            <a:ext cx="521208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28800"/>
            <a:ext cx="484632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2563EB"/>
                </a:solidFill>
                <a:latin typeface="Trebuchet MS"/>
              </a:defRPr>
            </a:pPr>
            <a:r>
              <a:t>🎯 Prevention Over Reaction</a:t>
            </a:r>
          </a:p>
          <a:p>
            <a:pPr>
              <a:defRPr sz="1400">
                <a:solidFill>
                  <a:srgbClr val="1E293B"/>
                </a:solidFill>
                <a:latin typeface="Calibri"/>
              </a:defRPr>
            </a:pPr>
            <a:r>
              <a:t>Blocks malicious URLs before the user ever accesses them. Traditional browsers warn users after a site is flagged in a database; PhishGuard analyzes site structure instantly to block on Day-Zero.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645920"/>
            <a:ext cx="521208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55080" y="1828800"/>
            <a:ext cx="484632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2563EB"/>
                </a:solidFill>
                <a:latin typeface="Trebuchet MS"/>
              </a:defRPr>
            </a:pPr>
            <a:r>
              <a:t>🎯 Quishing (QR Phishing) Shield</a:t>
            </a:r>
          </a:p>
          <a:p>
            <a:pPr>
              <a:defRPr sz="1400">
                <a:solidFill>
                  <a:srgbClr val="1E293B"/>
                </a:solidFill>
                <a:latin typeface="Calibri"/>
              </a:defRPr>
            </a:pPr>
            <a:r>
              <a:t>Protects citizens from physical scams. QR codes printed on fake parking slips or public posters are resolved locally, informing users of the underlying redirect risks before loading.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4023360"/>
            <a:ext cx="521208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4206240"/>
            <a:ext cx="484632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2563EB"/>
                </a:solidFill>
                <a:latin typeface="Trebuchet MS"/>
              </a:defRPr>
            </a:pPr>
            <a:r>
              <a:t>🎯 Accessible Email Security</a:t>
            </a:r>
          </a:p>
          <a:p>
            <a:pPr>
              <a:defRPr sz="1400">
                <a:solidFill>
                  <a:srgbClr val="1E293B"/>
                </a:solidFill>
                <a:latin typeface="Calibri"/>
              </a:defRPr>
            </a:pPr>
            <a:r>
              <a:t>Democratizes complex header verification. Instead of looking at unreadable headers, users get simple ratings on whether the sender email addresses match verified SPF/DKIM profiles.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4023360"/>
            <a:ext cx="521208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4206240"/>
            <a:ext cx="484632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2563EB"/>
                </a:solidFill>
                <a:latin typeface="Trebuchet MS"/>
              </a:defRPr>
            </a:pPr>
            <a:r>
              <a:t>🎯 Education &amp; Behavioral Shift</a:t>
            </a:r>
          </a:p>
          <a:p>
            <a:pPr>
              <a:defRPr sz="1400">
                <a:solidFill>
                  <a:srgbClr val="1E293B"/>
                </a:solidFill>
                <a:latin typeface="Calibri"/>
              </a:defRPr>
            </a:pPr>
            <a:r>
              <a:t>Features gamified security guides and self-assessment quizzes that teach ordinary citizens how to identify phishing flags on their own, strengthening the human defense layer.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1645920"/>
            <a:ext cx="548640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0"/>
              </a:spcAft>
              <a:defRPr sz="2600" b="1">
                <a:solidFill>
                  <a:srgbClr val="FFFFFF"/>
                </a:solidFill>
                <a:latin typeface="Trebuchet MS"/>
              </a:defRPr>
            </a:pPr>
            <a:r>
              <a:t>Working Prototype &amp; Live Demo</a:t>
            </a:r>
          </a:p>
          <a:p>
            <a:pPr>
              <a:spcAft>
                <a:spcPts val="1400"/>
              </a:spcAft>
              <a:defRPr sz="1600">
                <a:solidFill>
                  <a:srgbClr val="94A3B8"/>
                </a:solidFill>
                <a:latin typeface="Calibri"/>
              </a:defRPr>
            </a:pPr>
            <a:r>
              <a:t>⚡ Interactive URL Analyzer dashboard running at localhost:3000.</a:t>
            </a:r>
          </a:p>
          <a:p>
            <a:pPr>
              <a:spcAft>
                <a:spcPts val="1400"/>
              </a:spcAft>
              <a:defRPr sz="1600">
                <a:solidFill>
                  <a:srgbClr val="94A3B8"/>
                </a:solidFill>
                <a:latin typeface="Calibri"/>
              </a:defRPr>
            </a:pPr>
            <a:r>
              <a:t>⚡ Live QR Scanning interface using webcam inputs (HTML5 integration).</a:t>
            </a:r>
          </a:p>
          <a:p>
            <a:pPr>
              <a:spcAft>
                <a:spcPts val="1400"/>
              </a:spcAft>
              <a:defRPr sz="1600">
                <a:solidFill>
                  <a:srgbClr val="94A3B8"/>
                </a:solidFill>
                <a:latin typeface="Calibri"/>
              </a:defRPr>
            </a:pPr>
            <a:r>
              <a:t>⚡ Active Deep Scan API executing DNS resolutions and parsing HTML forms synchronously.</a:t>
            </a:r>
          </a:p>
          <a:p>
            <a:pPr>
              <a:spcAft>
                <a:spcPts val="1400"/>
              </a:spcAft>
              <a:defRPr sz="1600">
                <a:solidFill>
                  <a:srgbClr val="94A3B8"/>
                </a:solidFill>
                <a:latin typeface="Calibri"/>
              </a:defRPr>
            </a:pPr>
            <a:r>
              <a:t>⚡ Fully modular Kotlin class (PhishingEngine.kt) verifying URL components in the Android app.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583680" y="1645920"/>
            <a:ext cx="4846320" cy="384048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0" y="2011680"/>
            <a:ext cx="4297680" cy="3108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3600" b="1">
                <a:solidFill>
                  <a:srgbClr val="FFFFFF"/>
                </a:solidFill>
                <a:latin typeface="Trebuchet MS"/>
              </a:defRPr>
            </a:pPr>
            <a:r>
              <a:t>PHISHGUARD</a:t>
            </a:r>
          </a:p>
          <a:p>
            <a:pPr>
              <a:spcAft>
                <a:spcPts val="2400"/>
              </a:spcAft>
              <a:defRPr sz="2000">
                <a:solidFill>
                  <a:srgbClr val="10B981"/>
                </a:solidFill>
                <a:latin typeface="Calibri"/>
              </a:defRPr>
            </a:pPr>
            <a:r>
              <a:t>Shielding Citizens from Cyber Scams</a:t>
            </a:r>
          </a:p>
          <a:p>
            <a:pPr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Thank You!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