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rvis Bangtan-Core" userId="51a59d6b9b3b02ae" providerId="LiveId" clId="{2DA6CFDB-904F-4665-A405-EE5C77DFF7EF}"/>
    <pc:docChg chg="modSld">
      <pc:chgData name="Jarvis Bangtan-Core" userId="51a59d6b9b3b02ae" providerId="LiveId" clId="{2DA6CFDB-904F-4665-A405-EE5C77DFF7EF}" dt="2026-07-06T15:25:04.708" v="7" actId="1076"/>
      <pc:docMkLst>
        <pc:docMk/>
      </pc:docMkLst>
      <pc:sldChg chg="modSp mod">
        <pc:chgData name="Jarvis Bangtan-Core" userId="51a59d6b9b3b02ae" providerId="LiveId" clId="{2DA6CFDB-904F-4665-A405-EE5C77DFF7EF}" dt="2026-07-06T15:25:04.708" v="7" actId="1076"/>
        <pc:sldMkLst>
          <pc:docMk/>
          <pc:sldMk cId="0" sldId="263"/>
        </pc:sldMkLst>
        <pc:picChg chg="mod">
          <ac:chgData name="Jarvis Bangtan-Core" userId="51a59d6b9b3b02ae" providerId="LiveId" clId="{2DA6CFDB-904F-4665-A405-EE5C77DFF7EF}" dt="2026-07-06T15:25:04.708" v="7" actId="1076"/>
          <ac:picMkLst>
            <pc:docMk/>
            <pc:sldMk cId="0" sldId="263"/>
            <ac:picMk id="5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2011680"/>
            <a:ext cx="109728" cy="2926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1828800"/>
            <a:ext cx="100584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6400" b="1">
                <a:solidFill>
                  <a:srgbClr val="FFFFFF"/>
                </a:solidFill>
                <a:latin typeface="Trebuchet MS"/>
              </a:defRPr>
            </a:pPr>
            <a:r>
              <a:t>SECURE OS</a:t>
            </a:r>
          </a:p>
          <a:p>
            <a:pPr>
              <a:spcAft>
                <a:spcPts val="4500"/>
              </a:spcAft>
              <a:defRPr sz="2200">
                <a:solidFill>
                  <a:srgbClr val="10B981"/>
                </a:solidFill>
                <a:latin typeface="Calibri"/>
              </a:defRPr>
            </a:pPr>
            <a:r>
              <a:t>Stopping Phishing and Cyber Scams in Real Time—Before You Click</a:t>
            </a:r>
          </a:p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Team Name: Secure OS Solutions</a:t>
            </a:r>
          </a:p>
          <a:p>
            <a:pPr>
              <a:defRPr sz="1500">
                <a:solidFill>
                  <a:srgbClr val="94A3B8"/>
                </a:solidFill>
                <a:latin typeface="Calibri"/>
              </a:defRPr>
            </a:pPr>
            <a:r>
              <a:t>Team Members: Anmol Malviya (Leader), Sachin Yaduwanshi, Saanvi Gupta, Tanay Agrawal, Shailendra Singh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2563EB"/>
                </a:solidFill>
                <a:latin typeface="Trebuchet MS"/>
              </a:defRPr>
            </a:pPr>
            <a:r>
              <a:t>The Cybersecurity Crisis We 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0292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2200" b="1">
                <a:solidFill>
                  <a:srgbClr val="1E293B"/>
                </a:solidFill>
                <a:latin typeface="Trebuchet MS"/>
              </a:defRPr>
            </a:pPr>
            <a:r>
              <a:t>Why Traditional Security Fails Us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Over 80% of cyberattacks start with a simple phishing link, costing people their hard-earned money and identities.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Scam websites pop up and vanish in under 24 hours, completely bypassing standard browser blocklists.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QR code scams ('Quishing') are on the rise, tricking users into scanning malicious links in public spaces.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Fake characters (like Cyrillic look-alikes) make fraudulent links look identical to trusted brands.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39319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0" y="1920240"/>
            <a:ext cx="466344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EF4444"/>
                </a:solidFill>
                <a:latin typeface="Trebuchet MS"/>
              </a:defRPr>
            </a:pPr>
            <a:r>
              <a:t>THE DANGEROUS SECURITY GAP</a:t>
            </a:r>
          </a:p>
          <a:p>
            <a:pPr>
              <a:spcAft>
                <a:spcPts val="1400"/>
              </a:spcAft>
              <a:defRPr sz="1500" b="1">
                <a:solidFill>
                  <a:srgbClr val="1E293B"/>
                </a:solidFill>
                <a:latin typeface="Calibri"/>
              </a:defRPr>
            </a:pPr>
            <a:r>
              <a:t>⚠️ Regular citizens have no safe way to inspect a link before clicking it.</a:t>
            </a:r>
          </a:p>
          <a:p>
            <a:pPr>
              <a:spcAft>
                <a:spcPts val="1400"/>
              </a:spcAft>
              <a:defRPr sz="1500" b="1">
                <a:solidFill>
                  <a:srgbClr val="1E293B"/>
                </a:solidFill>
                <a:latin typeface="Calibri"/>
              </a:defRPr>
            </a:pPr>
            <a:r>
              <a:t>⚠️ Email headers hold the key to spotting spoofs, but they are completely unreadable to the average person.</a:t>
            </a:r>
          </a:p>
          <a:p>
            <a:pPr>
              <a:spcAft>
                <a:spcPts val="1400"/>
              </a:spcAft>
              <a:defRPr sz="1500" b="1">
                <a:solidFill>
                  <a:srgbClr val="1E293B"/>
                </a:solidFill>
                <a:latin typeface="Calibri"/>
              </a:defRPr>
            </a:pPr>
            <a:r>
              <a:t>⚠️ Existing mobile security apps drain your battery and won't work without internet.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2563EB"/>
                </a:solidFill>
                <a:latin typeface="Trebuchet MS"/>
              </a:defRPr>
            </a:pPr>
            <a:r>
              <a:t>Meet Secure OS: Your Digital Shield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8200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1E293B"/>
                </a:solidFill>
                <a:latin typeface="Calibri"/>
              </a:defRPr>
            </a:pPr>
            <a:r>
              <a:t>A smart, multi-layered defense system that stops scams on your phone and in the cloud.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3319272" cy="39319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2953512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E293B"/>
                </a:solidFill>
                <a:latin typeface="Trebuchet MS"/>
              </a:defRPr>
            </a:pPr>
            <a:r>
              <a:t>1. Instant Mobile Protection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A lightweight, offline AI running on your phone to scan links instantly with zero delay—saving your battery and working without internet.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011680"/>
            <a:ext cx="3319272" cy="393192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17720" y="2194560"/>
            <a:ext cx="2953512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E293B"/>
                </a:solidFill>
                <a:latin typeface="Trebuchet MS"/>
              </a:defRPr>
            </a:pPr>
            <a:r>
              <a:t>2. Cloud Deep-Scan API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An advanced server that digs deeper—verifying website domains, checking SSL certificates, and inspecting page code for hidden credential thieves.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2011680"/>
            <a:ext cx="3319272" cy="393192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66759" y="2194560"/>
            <a:ext cx="2953512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E293B"/>
                </a:solidFill>
                <a:latin typeface="Trebuchet MS"/>
              </a:defRPr>
            </a:pPr>
            <a:r>
              <a:t>3. Safe View Sandbox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A secure, isolated preview window that lets you look inside a website safely without downloading malware or trackers.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2563EB"/>
                </a:solidFill>
                <a:latin typeface="Trebuchet MS"/>
              </a:defRPr>
            </a:pPr>
            <a:r>
              <a:t>How It Works: Step-by-Step Defense</a:t>
            </a:r>
          </a:p>
        </p:txBody>
      </p:sp>
      <p:sp>
        <p:nvSpPr>
          <p:cNvPr id="4" name="Oval 3"/>
          <p:cNvSpPr/>
          <p:nvPr/>
        </p:nvSpPr>
        <p:spPr>
          <a:xfrm>
            <a:off x="1691640" y="1554480"/>
            <a:ext cx="685800" cy="6858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Trebuchet MS"/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377440"/>
            <a:ext cx="25603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228600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0"/>
              </a:spcAft>
              <a:defRPr sz="1600" b="1">
                <a:solidFill>
                  <a:srgbClr val="1E293B"/>
                </a:solidFill>
                <a:latin typeface="Trebuchet MS"/>
              </a:defRPr>
            </a:pPr>
            <a:r>
              <a:t>Scan or Paste</a:t>
            </a:r>
          </a:p>
          <a:p>
            <a:pPr algn="ctr">
              <a:defRPr sz="1300">
                <a:solidFill>
                  <a:srgbClr val="1E293B"/>
                </a:solidFill>
                <a:latin typeface="Calibri"/>
              </a:defRPr>
            </a:pPr>
            <a:r>
              <a:t>You copy a link, scan a physical QR code, or paste an email header.</a:t>
            </a:r>
          </a:p>
        </p:txBody>
      </p:sp>
      <p:sp>
        <p:nvSpPr>
          <p:cNvPr id="7" name="Oval 6"/>
          <p:cNvSpPr/>
          <p:nvPr/>
        </p:nvSpPr>
        <p:spPr>
          <a:xfrm>
            <a:off x="4389120" y="1554480"/>
            <a:ext cx="685800" cy="6858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Trebuchet MS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2377440"/>
            <a:ext cx="25603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20440" y="2514600"/>
            <a:ext cx="228600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0"/>
              </a:spcAft>
              <a:defRPr sz="1600" b="1">
                <a:solidFill>
                  <a:srgbClr val="1E293B"/>
                </a:solidFill>
                <a:latin typeface="Trebuchet MS"/>
              </a:defRPr>
            </a:pPr>
            <a:r>
              <a:t>Instant Text Check</a:t>
            </a:r>
          </a:p>
          <a:p>
            <a:pPr algn="ctr">
              <a:defRPr sz="1300">
                <a:solidFill>
                  <a:srgbClr val="1E293B"/>
                </a:solidFill>
                <a:latin typeface="Calibri"/>
              </a:defRPr>
            </a:pPr>
            <a:r>
              <a:t>The app instantly looks for look-alike brand names, fake characters, and random letter patterns.</a:t>
            </a:r>
          </a:p>
        </p:txBody>
      </p:sp>
      <p:sp>
        <p:nvSpPr>
          <p:cNvPr id="10" name="Oval 9"/>
          <p:cNvSpPr/>
          <p:nvPr/>
        </p:nvSpPr>
        <p:spPr>
          <a:xfrm>
            <a:off x="7086600" y="1554480"/>
            <a:ext cx="685800" cy="6858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Trebuchet MS"/>
              </a:defRPr>
            </a:pPr>
            <a: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2377440"/>
            <a:ext cx="25603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2514600"/>
            <a:ext cx="228600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0"/>
              </a:spcAft>
              <a:defRPr sz="1600" b="1">
                <a:solidFill>
                  <a:srgbClr val="1E293B"/>
                </a:solidFill>
                <a:latin typeface="Trebuchet MS"/>
              </a:defRPr>
            </a:pPr>
            <a:r>
              <a:t>Offline AI Analysis</a:t>
            </a:r>
          </a:p>
          <a:p>
            <a:pPr algn="ctr">
              <a:defRPr sz="1300">
                <a:solidFill>
                  <a:srgbClr val="1E293B"/>
                </a:solidFill>
                <a:latin typeface="Calibri"/>
              </a:defRPr>
            </a:pPr>
            <a:r>
              <a:t>A lightweight machine learning model runs right on your phone to give you an immediate safety score.</a:t>
            </a:r>
          </a:p>
        </p:txBody>
      </p:sp>
      <p:sp>
        <p:nvSpPr>
          <p:cNvPr id="13" name="Oval 12"/>
          <p:cNvSpPr/>
          <p:nvPr/>
        </p:nvSpPr>
        <p:spPr>
          <a:xfrm>
            <a:off x="9784080" y="1554480"/>
            <a:ext cx="685800" cy="6858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Trebuchet MS"/>
              </a:defRPr>
            </a:pPr>
            <a: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0" y="2377440"/>
            <a:ext cx="25603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15400" y="2514600"/>
            <a:ext cx="228600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0"/>
              </a:spcAft>
              <a:defRPr sz="1600" b="1">
                <a:solidFill>
                  <a:srgbClr val="1E293B"/>
                </a:solidFill>
                <a:latin typeface="Trebuchet MS"/>
              </a:defRPr>
            </a:pPr>
            <a:r>
              <a:t>Deep Cloud Inspection</a:t>
            </a:r>
          </a:p>
          <a:p>
            <a:pPr algn="ctr">
              <a:defRPr sz="1300">
                <a:solidFill>
                  <a:srgbClr val="1E293B"/>
                </a:solidFill>
                <a:latin typeface="Calibri"/>
              </a:defRPr>
            </a:pPr>
            <a:r>
              <a:t>If something looks off, our servers audit the website's registration details and inspect the code for scams.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2563EB"/>
                </a:solidFill>
                <a:latin typeface="Trebuchet MS"/>
              </a:defRPr>
            </a:pPr>
            <a:r>
              <a:t>The Secure OS Ecosystem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521208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554480"/>
            <a:ext cx="109728" cy="2103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6634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E293B"/>
                </a:solidFill>
                <a:latin typeface="Trebuchet MS"/>
              </a:defRPr>
            </a:pPr>
            <a:r>
              <a:t>Native Android App</a:t>
            </a:r>
          </a:p>
          <a:p>
            <a:pPr>
              <a:defRPr sz="1400">
                <a:solidFill>
                  <a:srgbClr val="1E293B"/>
                </a:solidFill>
                <a:latin typeface="Calibri"/>
              </a:defRPr>
            </a:pPr>
            <a:r>
              <a:t>Scans links automatically from your clipboard, decodes QR codes safely, and runs offline AI checks directly on your device with zero latency.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554480"/>
            <a:ext cx="521208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72200" y="1554480"/>
            <a:ext cx="109728" cy="2103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737360"/>
            <a:ext cx="46634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E293B"/>
                </a:solidFill>
                <a:latin typeface="Trebuchet MS"/>
              </a:defRPr>
            </a:pPr>
            <a:r>
              <a:t>Web Security Hub</a:t>
            </a:r>
          </a:p>
          <a:p>
            <a:pPr>
              <a:defRPr sz="1400">
                <a:solidFill>
                  <a:srgbClr val="1E293B"/>
                </a:solidFill>
                <a:latin typeface="Calibri"/>
              </a:defRPr>
            </a:pPr>
            <a:r>
              <a:t>A beautiful Next.js dashboard to manually check suspicious links, view detailed scan histories, and learn cybersecurity basics.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023360"/>
            <a:ext cx="521208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4023360"/>
            <a:ext cx="109728" cy="2103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4206240"/>
            <a:ext cx="46634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E293B"/>
                </a:solidFill>
                <a:latin typeface="Trebuchet MS"/>
              </a:defRPr>
            </a:pPr>
            <a:r>
              <a:t>Deep-Scan Servers</a:t>
            </a:r>
          </a:p>
          <a:p>
            <a:pPr>
              <a:defRPr sz="1400">
                <a:solidFill>
                  <a:srgbClr val="1E293B"/>
                </a:solidFill>
                <a:latin typeface="Calibri"/>
              </a:defRPr>
            </a:pPr>
            <a:r>
              <a:t>A powerful backend API that investigates domains, checks SSL certification validity, and analyzes page HTML structure.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4023360"/>
            <a:ext cx="521208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4023360"/>
            <a:ext cx="109728" cy="2103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4206240"/>
            <a:ext cx="46634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E293B"/>
                </a:solidFill>
                <a:latin typeface="Trebuchet MS"/>
              </a:defRPr>
            </a:pPr>
            <a:r>
              <a:t>Safe View &amp; Email Auditor</a:t>
            </a:r>
          </a:p>
          <a:p>
            <a:pPr>
              <a:defRPr sz="1400">
                <a:solidFill>
                  <a:srgbClr val="1E293B"/>
                </a:solidFill>
                <a:latin typeface="Calibri"/>
              </a:defRPr>
            </a:pPr>
            <a:r>
              <a:t>Renders dangerous pages inside a script-disabled visual sandbox and breaks down confusing email headers into plain English.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2563EB"/>
                </a:solidFill>
                <a:latin typeface="Trebuchet MS"/>
              </a:defRPr>
            </a:pPr>
            <a:r>
              <a:t>Our Tech Stack &amp; Core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50292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2200" b="1">
                <a:solidFill>
                  <a:srgbClr val="1E293B"/>
                </a:solidFill>
                <a:latin typeface="Trebuchet MS"/>
              </a:defRPr>
            </a:pPr>
            <a:r>
              <a:t>The Technology Behind Secure OS</a:t>
            </a:r>
          </a:p>
          <a:p>
            <a:pPr>
              <a:defRPr sz="1500" b="1">
                <a:solidFill>
                  <a:srgbClr val="2563EB"/>
                </a:solidFill>
              </a:defRPr>
            </a:pPr>
            <a:r>
              <a:t>💻 Mobile App: 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   Native Kotlin, Android SDK, and offline heuristics</a:t>
            </a:r>
          </a:p>
          <a:p>
            <a:pPr>
              <a:defRPr sz="1500" b="1">
                <a:solidFill>
                  <a:srgbClr val="2563EB"/>
                </a:solidFill>
              </a:defRPr>
            </a:pPr>
            <a:r>
              <a:t>💻 Web Dashboard: 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   Next.js 16 (React), Vanilla CSS with premium glassmorphism styles</a:t>
            </a:r>
          </a:p>
          <a:p>
            <a:pPr>
              <a:defRPr sz="1500" b="1">
                <a:solidFill>
                  <a:srgbClr val="2563EB"/>
                </a:solidFill>
              </a:defRPr>
            </a:pPr>
            <a:r>
              <a:t>💻 Cloud API: 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   Next.js serverless API routes running on Node.js</a:t>
            </a:r>
          </a:p>
          <a:p>
            <a:pPr>
              <a:defRPr sz="1500" b="1">
                <a:solidFill>
                  <a:srgbClr val="2563EB"/>
                </a:solidFill>
              </a:defRPr>
            </a:pPr>
            <a:r>
              <a:t>💻 Utilities: 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   HTML5 QR-code reader and secure Web Cryptography</a:t>
            </a:r>
          </a:p>
          <a:p>
            <a:pPr>
              <a:defRPr sz="1500" b="1">
                <a:solidFill>
                  <a:srgbClr val="2563EB"/>
                </a:solidFill>
              </a:defRPr>
            </a:pPr>
            <a:r>
              <a:t>💻 Data Pipeline: 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   Python scripts for dataset processing and model weights translation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463040"/>
            <a:ext cx="52120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2200" b="1">
                <a:solidFill>
                  <a:srgbClr val="1E293B"/>
                </a:solidFill>
                <a:latin typeface="Trebuchet MS"/>
              </a:defRPr>
            </a:pPr>
            <a:r>
              <a:t>The Algorithms Keeping You Safe</a:t>
            </a:r>
          </a:p>
          <a:p>
            <a:pPr>
              <a:defRPr sz="1500" b="1">
                <a:solidFill>
                  <a:srgbClr val="10B981"/>
                </a:solidFill>
              </a:defRPr>
            </a:pPr>
            <a:r>
              <a:t>⚙️ Typosquatting Checker (Levenshtein): 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   Calculates text similarity to catch links mimicking popular brand names (like `paypa1.com`).</a:t>
            </a:r>
          </a:p>
          <a:p>
            <a:pPr>
              <a:defRPr sz="1500" b="1">
                <a:solidFill>
                  <a:srgbClr val="10B981"/>
                </a:solidFill>
              </a:defRPr>
            </a:pPr>
            <a:r>
              <a:t>⚙️ Threat Classifier (Logistic Regression): 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   Analyzes structural features of a URL to calculate an instant probability score.</a:t>
            </a:r>
          </a:p>
          <a:p>
            <a:pPr>
              <a:defRPr sz="1500" b="1">
                <a:solidFill>
                  <a:srgbClr val="10B981"/>
                </a:solidFill>
              </a:defRPr>
            </a:pPr>
            <a:r>
              <a:t>⚙️ Randomness Detector (Shannon Entropy): 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   Detects randomly generated domains frequently used by botnets and automated spammers.</a:t>
            </a:r>
          </a:p>
          <a:p>
            <a:pPr>
              <a:defRPr sz="1500" b="1">
                <a:solidFill>
                  <a:srgbClr val="10B981"/>
                </a:solidFill>
              </a:defRPr>
            </a:pPr>
            <a:r>
              <a:t>⚙️ Homograph Decoder (Punycode): 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   Exposes scams using foreign characters that mimic standard English letters.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2563EB"/>
                </a:solidFill>
                <a:latin typeface="Trebuchet MS"/>
              </a:defRPr>
            </a:pPr>
            <a:r>
              <a:t>Making a Real-World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212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484632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563EB"/>
                </a:solidFill>
                <a:latin typeface="Trebuchet MS"/>
              </a:defRPr>
            </a:pPr>
            <a:r>
              <a:t>🎯 Preventing Scams, Not Just Reporting Them</a:t>
            </a:r>
          </a:p>
          <a:p>
            <a:pPr>
              <a:defRPr sz="1400">
                <a:solidFill>
                  <a:srgbClr val="1E293B"/>
                </a:solidFill>
                <a:latin typeface="Calibri"/>
              </a:defRPr>
            </a:pPr>
            <a:r>
              <a:t>While traditional browsers warn you after a site is already flagged, Secure OS analyzes site structure instantly to block brand-new (zero-day) attacks.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45920"/>
            <a:ext cx="5212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55080" y="1828800"/>
            <a:ext cx="484632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563EB"/>
                </a:solidFill>
                <a:latin typeface="Trebuchet MS"/>
              </a:defRPr>
            </a:pPr>
            <a:r>
              <a:t>🎯 The QR Code (Quishing) Shield</a:t>
            </a:r>
          </a:p>
          <a:p>
            <a:pPr>
              <a:defRPr sz="1400">
                <a:solidFill>
                  <a:srgbClr val="1E293B"/>
                </a:solidFill>
                <a:latin typeface="Calibri"/>
              </a:defRPr>
            </a:pPr>
            <a:r>
              <a:t>Protects citizens from physical scams—like fake parking ticket stickers or public poster codes—by decoding links safely and previewing them first.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023360"/>
            <a:ext cx="5212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4206240"/>
            <a:ext cx="484632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563EB"/>
                </a:solidFill>
                <a:latin typeface="Trebuchet MS"/>
              </a:defRPr>
            </a:pPr>
            <a:r>
              <a:t>🎯 Making Email Security Simple</a:t>
            </a:r>
          </a:p>
          <a:p>
            <a:pPr>
              <a:defRPr sz="1400">
                <a:solidFill>
                  <a:srgbClr val="1E293B"/>
                </a:solidFill>
                <a:latin typeface="Calibri"/>
              </a:defRPr>
            </a:pPr>
            <a:r>
              <a:t>Takes the technical jargon out of email headers, showing a clear, understandable rating on whether the sender is authentic.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023360"/>
            <a:ext cx="5212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4206240"/>
            <a:ext cx="484632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563EB"/>
                </a:solidFill>
                <a:latin typeface="Trebuchet MS"/>
              </a:defRPr>
            </a:pPr>
            <a:r>
              <a:t>🎯 Training the Human Layer</a:t>
            </a:r>
          </a:p>
          <a:p>
            <a:pPr>
              <a:defRPr sz="1400">
                <a:solidFill>
                  <a:srgbClr val="1E293B"/>
                </a:solidFill>
                <a:latin typeface="Calibri"/>
              </a:defRPr>
            </a:pPr>
            <a:r>
              <a:t>Builds lasting digital safety habits using interactive, gamified quizzes to teach citizens how to spot phishing flags on their own.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2563EB"/>
                </a:solidFill>
                <a:latin typeface="Trebuchet MS"/>
              </a:defRPr>
            </a:pPr>
            <a:r>
              <a:t>Our Live Working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4864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0"/>
              </a:spcAft>
              <a:defRPr sz="2200" b="1">
                <a:solidFill>
                  <a:srgbClr val="1E293B"/>
                </a:solidFill>
                <a:latin typeface="Trebuchet MS"/>
              </a:defRPr>
            </a:pPr>
            <a:r>
              <a:t>Experience Secure OS in Action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⚡ Interactive Dashboard: A real-time web interface running at localhost:3000 to scan and preview links safely.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⚡ Live QR Scanner: Instant, webcam-integrated scanning to parse and analyze physical codes.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⚡ Cloud-Based Audits: A live backend that triggers DNS lookups and certificate validation on the fly.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⚡ Native Mobile Diagnostics: Offline Kotlin engine checking links on the go directly in the Android app.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7304" y="365760"/>
            <a:ext cx="2786863" cy="62363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2011680"/>
            <a:ext cx="109728" cy="2926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1828800"/>
            <a:ext cx="100584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6400" b="1">
                <a:solidFill>
                  <a:srgbClr val="FFFFFF"/>
                </a:solidFill>
                <a:latin typeface="Trebuchet MS"/>
              </a:defRPr>
            </a:pPr>
            <a:r>
              <a:t>SECURE OS</a:t>
            </a:r>
          </a:p>
          <a:p>
            <a:pPr>
              <a:spcAft>
                <a:spcPts val="4500"/>
              </a:spcAft>
              <a:defRPr sz="2200">
                <a:solidFill>
                  <a:srgbClr val="10B981"/>
                </a:solidFill>
                <a:latin typeface="Calibri"/>
              </a:defRPr>
            </a:pPr>
            <a:r>
              <a:t>Shielding Citizens from Cyber Scams</a:t>
            </a:r>
          </a:p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Thank You! 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874</Words>
  <Application>Microsoft Office PowerPoint</Application>
  <PresentationFormat>Widescreen</PresentationFormat>
  <Paragraphs>83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Jarvis Bangtan-Core</cp:lastModifiedBy>
  <cp:revision>1</cp:revision>
  <dcterms:created xsi:type="dcterms:W3CDTF">2013-01-27T09:14:16Z</dcterms:created>
  <dcterms:modified xsi:type="dcterms:W3CDTF">2026-07-06T15:25:13Z</dcterms:modified>
  <cp:category/>
</cp:coreProperties>
</file>